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6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32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2988"/>
            <a:ext cx="7329573" cy="5143500"/>
            <a:chOff x="1303402" y="3985"/>
            <a:chExt cx="9772765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2411796" y="1323305"/>
            <a:ext cx="4320635" cy="17327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39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StreamSense</a:t>
            </a:r>
            <a:endParaRPr lang="en-US" sz="39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411796" y="3123864"/>
            <a:ext cx="4320635" cy="511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</a:pPr>
            <a:r>
              <a:rPr lang="en-US" sz="1500" b="1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Autonomous MNP Monitoring for the Gulf of Maine</a:t>
            </a:r>
            <a:endParaRPr lang="en-US" sz="15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08539" y="3478260"/>
            <a:ext cx="652669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every boat into a floating research station</a:t>
            </a:r>
            <a:endParaRPr lang="en-US" sz="165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5954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1800"/>
              </a:spcAft>
              <a:buNone/>
            </a:pPr>
            <a:r>
              <a:rPr lang="en-US" sz="3150" b="1" dirty="0">
                <a:solidFill>
                  <a:srgbClr val="0077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Invisible Threat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71500" y="1104900"/>
            <a:ext cx="634422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 and Nanoplastics in Gulf of Maine Waters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511201"/>
            <a:ext cx="8001000" cy="10477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MNPs found in </a:t>
            </a:r>
            <a:r>
              <a:rPr lang="en-US" sz="135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commercially harvested seafood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lobsters, mussels, oysters, clams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in </a:t>
            </a:r>
            <a:r>
              <a:rPr lang="en-US" sz="135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cardiovascular tissue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increased heart attack risk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of Maine: warming faster than 99% of ocean, accelerating plastic breakdown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749451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Data Gap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3155752"/>
            <a:ext cx="8001000" cy="10477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sampling: Manual collection and expensive automation limits coverage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research cruises: $50K/day with limited reach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know enough about where MNPs concentrate or how they move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23665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1800"/>
              </a:spcAft>
              <a:buNone/>
            </a:pPr>
            <a:r>
              <a:rPr lang="en-US" sz="3150" b="1" dirty="0">
                <a:solidFill>
                  <a:srgbClr val="0077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Health &amp; Marine Ecology Impact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71500" y="1504950"/>
            <a:ext cx="388620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Health Risks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71500" y="2023021"/>
            <a:ext cx="3810000" cy="1485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 blood, lungs, placenta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 disease links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Inflammation &amp; oxidative stress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via seafood consumption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0" y="1504950"/>
            <a:ext cx="388620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Marine Ecosystem Threats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62500" y="2023021"/>
            <a:ext cx="3810000" cy="1485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Ingested by zooplankton to whales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Bioaccumulates up food chain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toxic chemicals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Alters organism behavior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699421"/>
            <a:ext cx="8001000" cy="834330"/>
          </a:xfrm>
          <a:prstGeom prst="roundRect">
            <a:avLst>
              <a:gd name="adj" fmla="val 9133"/>
            </a:avLst>
          </a:prstGeom>
          <a:solidFill>
            <a:srgbClr val="E6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3699421"/>
            <a:ext cx="0" cy="83433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0100" y="3889921"/>
            <a:ext cx="7733538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Maine's $1.5B lobster industry and coastal communities rely on healthy waters—but we're monitoring MNPs blind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8584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0077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Introducing StreamSense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71500" y="1066800"/>
            <a:ext cx="81610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2100"/>
              </a:spcAft>
              <a:buNone/>
            </a:pPr>
            <a:r>
              <a:rPr lang="en-US" sz="1650" b="1" dirty="0">
                <a:solidFill>
                  <a:srgbClr val="00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tow-behind MNP sampler for lobster boats &amp; recreational boats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71500" y="1626840"/>
            <a:ext cx="2463850" cy="1942802"/>
          </a:xfrm>
          <a:prstGeom prst="roundRect">
            <a:avLst>
              <a:gd name="adj" fmla="val 392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817340"/>
            <a:ext cx="20467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&amp; Forget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0100" y="2160240"/>
            <a:ext cx="2046783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Clips to stern, tows behind vessel. No power, no monitoring. Collects samples automatically during normal fishing/sailing operations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40150" y="1626840"/>
            <a:ext cx="2463850" cy="1942802"/>
          </a:xfrm>
          <a:prstGeom prst="roundRect">
            <a:avLst>
              <a:gd name="adj" fmla="val 392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68750" y="1817340"/>
            <a:ext cx="20467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GPS-Aware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8750" y="2160240"/>
            <a:ext cx="2046783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sample selected and tagged with precise coordinates. Builds comprehensive spatial map of MNP distribution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08799" y="1748730"/>
            <a:ext cx="2463850" cy="1699022"/>
          </a:xfrm>
          <a:prstGeom prst="roundRect">
            <a:avLst>
              <a:gd name="adj" fmla="val 448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37399" y="1939230"/>
            <a:ext cx="20467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 &amp; Drop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37399" y="2282130"/>
            <a:ext cx="2046783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dock, drop device in collection bin. Instant payment. Zero processing burden on fishermen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" y="3760143"/>
            <a:ext cx="8001000" cy="647700"/>
          </a:xfrm>
          <a:prstGeom prst="roundRect">
            <a:avLst>
              <a:gd name="adj" fmla="val 11765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4662" y="3950643"/>
            <a:ext cx="769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500+ working boats into a distributed research network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77100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0077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StreamSense Works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71500" y="1066800"/>
            <a:ext cx="229285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 Features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71500" y="1627584"/>
            <a:ext cx="3810000" cy="14097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Torpedo-shaped, </a:t>
            </a:r>
            <a:r>
              <a:rPr lang="en-US" sz="135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18" × 6"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intake, 3-stage filtration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for site selection &amp; tracking</a:t>
            </a:r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battery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361134"/>
            <a:ext cx="3810000" cy="847725"/>
          </a:xfrm>
          <a:prstGeom prst="roundRect">
            <a:avLst>
              <a:gd name="adj" fmla="val 898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561159"/>
            <a:ext cx="34975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Cost:</a:t>
            </a: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$180 at scale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62000" y="3808809"/>
            <a:ext cx="34975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Lifespan:</a:t>
            </a: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50+ deployments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62500" y="1471613"/>
            <a:ext cx="195281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Journey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762500" y="2032397"/>
            <a:ext cx="3810000" cy="177165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up free device at dock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tow line to stern cleat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or sail as normal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device to dock bin per counter display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$25-40 payment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1800"/>
              </a:spcAft>
              <a:buNone/>
            </a:pPr>
            <a:r>
              <a:rPr lang="en-US" sz="3150" b="1" dirty="0">
                <a:solidFill>
                  <a:srgbClr val="0077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Landscape</a:t>
            </a:r>
            <a:endParaRPr lang="en-US" sz="3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94EAE-853E-78B5-900A-9FDEE49F4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77177"/>
            <a:ext cx="7772400" cy="3498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3629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0077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Roadmap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71500" y="1066800"/>
            <a:ext cx="467315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Validation (Months 1-4)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71500" y="1456134"/>
            <a:ext cx="8001000" cy="104775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</a:t>
            </a:r>
            <a:r>
              <a:rPr lang="en-US" sz="135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volunteer lobstermen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vs. manual net sampling (manta net)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GPS, filters, durability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694384"/>
            <a:ext cx="473144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Economics (Months 3-6)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71500" y="3083719"/>
            <a:ext cx="8001000" cy="6858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payment and dock logistics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MCFA, Maine Lobstermen's Association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940969"/>
            <a:ext cx="8001000" cy="731341"/>
          </a:xfrm>
          <a:prstGeom prst="roundRect">
            <a:avLst>
              <a:gd name="adj" fmla="val 10419"/>
            </a:avLst>
          </a:prstGeom>
          <a:solidFill>
            <a:srgbClr val="E6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3940969"/>
            <a:ext cx="0" cy="73134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9150" y="4093369"/>
            <a:ext cx="769467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the Process:</a:t>
            </a: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Fishermen as co-designers inform device attachment, durability, and seasonal patterns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8001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0077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Business Model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71500" y="1528763"/>
            <a:ext cx="2904935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 Impact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2068413"/>
            <a:ext cx="3829050" cy="21336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comprehensive MNP map of Gulf of Maine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pollution hotspots &amp; sources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 policy on single-use / degrading plastics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remediation effectiveness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public awareness via data visualization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43450" y="1066800"/>
            <a:ext cx="2020824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008B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43450" y="1606451"/>
            <a:ext cx="3829050" cy="1000125"/>
          </a:xfrm>
          <a:prstGeom prst="roundRect">
            <a:avLst>
              <a:gd name="adj" fmla="val 761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99469" y="1796951"/>
            <a:ext cx="35170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899469" y="2216051"/>
            <a:ext cx="35170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Annual Revenue Target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743450" y="2911376"/>
            <a:ext cx="3829050" cy="17526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grants: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NOAA, EPA, NSF ($2M)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agencies: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subscription ($400K)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sponsors: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Seafood cos. ($300K)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partnerships: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UMaine, UNH ($500K)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53726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spcAft>
                <a:spcPts val="1800"/>
              </a:spcAft>
              <a:buNone/>
            </a:pPr>
            <a:r>
              <a:rPr lang="en-US" sz="3150" b="1" dirty="0">
                <a:solidFill>
                  <a:srgbClr val="0077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3-Year Growth Strategy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71500" y="1085850"/>
            <a:ext cx="2540050" cy="3727996"/>
          </a:xfrm>
          <a:prstGeom prst="roundRect">
            <a:avLst>
              <a:gd name="adj" fmla="val 300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276350"/>
            <a:ext cx="220223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of Maine Launch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62000" y="1565821"/>
            <a:ext cx="2159050" cy="27908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devices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deployed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lobstermen + 20 recreational boaters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 samples collected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 infrastructure: 5 major ports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MNP distribution map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02050" y="1085850"/>
            <a:ext cx="2540050" cy="3727996"/>
          </a:xfrm>
          <a:prstGeom prst="roundRect">
            <a:avLst>
              <a:gd name="adj" fmla="val 300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92550" y="1276350"/>
            <a:ext cx="220223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Expansion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3492550" y="1565821"/>
            <a:ext cx="2159050" cy="25241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devices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Georges Bank, Cape Cod Bay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charter fishing boats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with sailing clubs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public data dashboard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2599" y="1085850"/>
            <a:ext cx="2540050" cy="3727996"/>
          </a:xfrm>
          <a:prstGeom prst="roundRect">
            <a:avLst>
              <a:gd name="adj" fmla="val 300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23099" y="1276350"/>
            <a:ext cx="220223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Network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223099" y="1565821"/>
            <a:ext cx="2159050" cy="30575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b="1" dirty="0">
                <a:solidFill>
                  <a:srgbClr val="007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 devices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nationwide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Chesapeake Bay, Puget Sound, Great Lakes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MNP prediction models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model to other regions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75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app: 10K+ active users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0166" y="762000"/>
            <a:ext cx="494352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the Movement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28688" y="1539180"/>
            <a:ext cx="7286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the Gulf of Maine into the world's most comprehensively monitored marine ecosystem for microplastics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72138" y="2872680"/>
            <a:ext cx="113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2072138" y="3444180"/>
            <a:ext cx="11380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Vessels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55827" y="2872680"/>
            <a:ext cx="150286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3755827" y="3444180"/>
            <a:ext cx="15028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3008" y="2872680"/>
            <a:ext cx="126999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803008" y="3444180"/>
            <a:ext cx="12699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Fishermen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09615" y="4076551"/>
            <a:ext cx="4724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turn awareness into action—one sample at a time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606</Words>
  <Application>Microsoft Macintosh PowerPoint</Application>
  <PresentationFormat>On-screen Show (16:9)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StreamSense: Autonomous MNP Monitoring for Gulf of Maine</dc:title>
  <dc:subject>Microplastics Monitoring Solution</dc:subject>
  <dc:creator>StreamSense Team</dc:creator>
  <cp:lastModifiedBy>Payne, Chris (CAI - Maine)</cp:lastModifiedBy>
  <cp:revision>5</cp:revision>
  <dcterms:created xsi:type="dcterms:W3CDTF">2025-11-01T18:00:12Z</dcterms:created>
  <dcterms:modified xsi:type="dcterms:W3CDTF">2025-12-07T19:29:26Z</dcterms:modified>
</cp:coreProperties>
</file>