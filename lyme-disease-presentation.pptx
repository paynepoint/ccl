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6391"/>
  </p:normalViewPr>
  <p:slideViewPr>
    <p:cSldViewPr snapToGrid="0" snapToObjects="1">
      <p:cViewPr varScale="1">
        <p:scale>
          <a:sx n="164" d="100"/>
          <a:sy n="164" d="100"/>
        </p:scale>
        <p:origin x="168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9" d="100"/>
          <a:sy n="109" d="100"/>
        </p:scale>
        <p:origin x="516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Connecticut (Original Endemic)</c:v>
                </c:pt>
              </c:strCache>
            </c:strRef>
          </c:tx>
          <c:spPr>
            <a:ln w="38100" cap="flat">
              <a:solidFill>
                <a:srgbClr val="2C3E5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3E50"/>
              </a:solidFill>
              <a:ln w="9525" cap="flat">
                <a:solidFill>
                  <a:srgbClr val="2C3E50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1976</c:v>
                </c:pt>
                <c:pt idx="1">
                  <c:v>1990</c:v>
                </c:pt>
                <c:pt idx="2">
                  <c:v>2000</c:v>
                </c:pt>
                <c:pt idx="3">
                  <c:v>2010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18</c:v>
                </c:pt>
                <c:pt idx="2">
                  <c:v>35</c:v>
                </c:pt>
                <c:pt idx="3">
                  <c:v>42</c:v>
                </c:pt>
                <c:pt idx="4">
                  <c:v>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969-0D46-9149-2B0E7CD0AF5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Maine (New Endemic)</c:v>
                </c:pt>
              </c:strCache>
            </c:strRef>
          </c:tx>
          <c:spPr>
            <a:ln w="38100" cap="flat">
              <a:solidFill>
                <a:srgbClr val="FF6B6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B6B"/>
              </a:solidFill>
              <a:ln w="9525" cap="flat">
                <a:solidFill>
                  <a:srgbClr val="FF6B6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1976</c:v>
                </c:pt>
                <c:pt idx="1">
                  <c:v>1990</c:v>
                </c:pt>
                <c:pt idx="2">
                  <c:v>2000</c:v>
                </c:pt>
                <c:pt idx="3">
                  <c:v>2010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2</c:v>
                </c:pt>
                <c:pt idx="2">
                  <c:v>8</c:v>
                </c:pt>
                <c:pt idx="3">
                  <c:v>28</c:v>
                </c:pt>
                <c:pt idx="4">
                  <c:v>52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969-0D46-9149-2B0E7CD0AF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Cases per 100,000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Lyme Incidence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25</c:v>
                </c:pt>
                <c:pt idx="2">
                  <c:v>32</c:v>
                </c:pt>
                <c:pt idx="3">
                  <c:v>38</c:v>
                </c:pt>
                <c:pt idx="4">
                  <c:v>45</c:v>
                </c:pt>
                <c:pt idx="5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D9-FD4D-877E-9AD4DE9715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Cases per 100,000 (Northern States)</a:t>
                </a:r>
              </a:p>
            </c:rich>
          </c:tx>
          <c:layout>
            <c:manualLayout>
              <c:xMode val="edge"/>
              <c:yMode val="edge"/>
              <c:x val="0"/>
              <c:y val="0.15991305774278214"/>
            </c:manualLayout>
          </c:layout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987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Climate change isn't just about rising seas and extreme weather—it's already making us sick in ways many of us haven't connected yet. Today I want to talk about Lyme disease, a health crisis that's quietly expanding across North America because of warming temperatures.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personal and relatable</a:t>
            </a:r>
          </a:p>
          <a:p>
            <a:r>
              <a:rPr lang="en-US" dirty="0"/>
              <a:t>Share telehealth misdiagnosis experience</a:t>
            </a:r>
          </a:p>
          <a:p>
            <a:r>
              <a:rPr lang="en-US" dirty="0"/>
              <a:t>Emphasize: "This is a case that *did* pursue</a:t>
            </a:r>
            <a:r>
              <a:rPr lang="en-US" baseline="0" dirty="0"/>
              <a:t> treatment with specific Lyme concerns</a:t>
            </a:r>
            <a:r>
              <a:rPr lang="en-US" dirty="0"/>
              <a:t>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This isn't a rare disease anymore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Critical Point:</a:t>
            </a:r>
            <a:r>
              <a:rPr lang="en-US" dirty="0"/>
              <a:t> Early treatment changes everything</a:t>
            </a:r>
          </a:p>
          <a:p>
            <a:r>
              <a:rPr lang="en-US" dirty="0"/>
              <a:t>Walk through Stage 1 → 2 → 3 progression</a:t>
            </a:r>
          </a:p>
          <a:p>
            <a:r>
              <a:rPr lang="en-US" dirty="0"/>
              <a:t>Emphasize: "95% of Stage 2/3 progression is preventable with early antibiotics"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Connecticut line: "Where Lyme was first identified in 1976"</a:t>
            </a:r>
          </a:p>
          <a:p>
            <a:r>
              <a:rPr lang="en-US" dirty="0"/>
              <a:t>Point to Maine line: "Maine now EXCEEDS Connecticut—regions that were 'safe' 20 years ago"</a:t>
            </a:r>
          </a:p>
          <a:p>
            <a:r>
              <a:rPr lang="en-US" dirty="0"/>
              <a:t>Key message: Temperature rise directly expands tick habitat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 the picture: "Imagine a forestry worker in northern Maine..." </a:t>
            </a:r>
          </a:p>
          <a:p>
            <a:r>
              <a:rPr lang="en-US" dirty="0"/>
              <a:t>Walk through the cascade: working in newly endemic region → increased tick exposure → economic pressure delays care → Stage 3 → can't work → family instability </a:t>
            </a:r>
          </a:p>
          <a:p>
            <a:r>
              <a:rPr lang="en-US" dirty="0"/>
              <a:t>Emphasize: outdoor workers (foresters, farmers, landscapers, trail workers) face highest exposure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public health meets climate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urgency for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"This shows how resources flow through to measurable impacts over time"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isn't about waiting for top-down 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asks by audience type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A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366" y="918270"/>
            <a:ext cx="7879119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920"/>
              </a:lnSpc>
              <a:spcAft>
                <a:spcPts val="150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</a:t>
            </a:r>
            <a:endParaRPr lang="en-US" sz="7200" dirty="0"/>
          </a:p>
          <a:p>
            <a:pPr marL="0" indent="0" algn="ctr">
              <a:lnSpc>
                <a:spcPts val="7920"/>
              </a:lnSpc>
              <a:spcAft>
                <a:spcPts val="150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Making Us Sick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2865564" y="3310830"/>
            <a:ext cx="34128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Rising Tide of Lyme Disease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4960" y="3920430"/>
            <a:ext cx="62440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[Hypothetical Scientific Conference on Climate Change &amp; Public Health, 2025]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Could Happen to Anyone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2164110"/>
            <a:ext cx="823874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contracted Lyme disease while sailing in Maine, living on a boat.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2602260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telehealth doctor in Florida misdiagnosed my symptoms, from lack of experience with Lyme. The delay meant incorrect treatment while the disease progressed.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3255690"/>
            <a:ext cx="82387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Lyme disease affects up to </a:t>
            </a:r>
            <a:r>
              <a:rPr lang="en-US" sz="135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496,000 Americans yearly</a:t>
            </a: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increasingly in regions that never worried about Lyme.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4762500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experience • Maine, 2024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Hidden Epidemic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04800" y="1781175"/>
            <a:ext cx="2692450" cy="1905000"/>
          </a:xfrm>
          <a:prstGeom prst="roundRect">
            <a:avLst>
              <a:gd name="adj" fmla="val 400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4810" y="2009775"/>
            <a:ext cx="167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496K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276752" y="2924175"/>
            <a:ext cx="748397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cases</a:t>
            </a:r>
            <a:endParaRPr lang="en-US" sz="1350" dirty="0"/>
          </a:p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25850" y="1781175"/>
            <a:ext cx="2692450" cy="1905000"/>
          </a:xfrm>
          <a:prstGeom prst="roundRect">
            <a:avLst>
              <a:gd name="adj" fmla="val 4000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35860" y="2009775"/>
            <a:ext cx="167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4192790" y="2924175"/>
            <a:ext cx="75856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</a:t>
            </a:r>
            <a:endParaRPr lang="en-US" sz="1350" dirty="0"/>
          </a:p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46899" y="1781175"/>
            <a:ext cx="2692450" cy="1905000"/>
          </a:xfrm>
          <a:prstGeom prst="roundRect">
            <a:avLst>
              <a:gd name="adj" fmla="val 400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03974" y="2009775"/>
            <a:ext cx="7781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113993" y="2924175"/>
            <a:ext cx="75811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states</a:t>
            </a:r>
            <a:endParaRPr lang="en-US" sz="1350" dirty="0"/>
          </a:p>
          <a:p>
            <a:pPr marL="0" indent="0" algn="ctr">
              <a:lnSpc>
                <a:spcPts val="2100"/>
              </a:lnSpc>
              <a:spcBef>
                <a:spcPts val="600"/>
              </a:spcBef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04800" y="4762500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(2024): 476,000 diagnosed/treated annually in US • Kugeler et al. (2021): 200,000+ in Europe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69271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Progressive Disease Without Treatment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2900" y="1101179"/>
            <a:ext cx="8458200" cy="739080"/>
          </a:xfrm>
          <a:prstGeom prst="roundRect">
            <a:avLst>
              <a:gd name="adj" fmla="val 51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71475" y="1101179"/>
            <a:ext cx="0" cy="739080"/>
          </a:xfrm>
          <a:prstGeom prst="line">
            <a:avLst/>
          </a:prstGeom>
          <a:noFill/>
          <a:ln w="571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400" y="1234529"/>
            <a:ext cx="8297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 (0-30 days)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1520279"/>
            <a:ext cx="8297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Rash at bite site, fever, headache, joint stiffness, fatigue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42900" y="1954560"/>
            <a:ext cx="8458200" cy="739080"/>
          </a:xfrm>
          <a:prstGeom prst="roundRect">
            <a:avLst>
              <a:gd name="adj" fmla="val 51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71475" y="1954560"/>
            <a:ext cx="0" cy="73908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3400" y="2087910"/>
            <a:ext cx="8297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 (3-10 weeks)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3400" y="2373660"/>
            <a:ext cx="8297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rashes, facial paralysis, irregular heartbeat, vision problems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2900" y="2807940"/>
            <a:ext cx="8458200" cy="739080"/>
          </a:xfrm>
          <a:prstGeom prst="roundRect">
            <a:avLst>
              <a:gd name="adj" fmla="val 515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71475" y="2807940"/>
            <a:ext cx="0" cy="739080"/>
          </a:xfrm>
          <a:prstGeom prst="line">
            <a:avLst/>
          </a:prstGeom>
          <a:noFill/>
          <a:ln w="571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3400" y="2941290"/>
            <a:ext cx="82970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 (Months to years)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3400" y="3227040"/>
            <a:ext cx="8297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arthritis, nerve damage, brain fog, severe fatigue, depression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" y="3699421"/>
            <a:ext cx="8458200" cy="57150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3766" y="3851821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antibiotics prevent 95% of Stage 2/3 progression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data from CDC &amp; peer-reviewed research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717975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Connection: Warming Expands Tick Habitat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1703040"/>
            <a:ext cx="3552378" cy="1101030"/>
          </a:xfrm>
          <a:prstGeom prst="roundRect">
            <a:avLst>
              <a:gd name="adj" fmla="val 519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025" y="1864965"/>
            <a:ext cx="327092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Rise = Habitat Expansion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8876" y="2321272"/>
            <a:ext cx="31183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Maine now exceeds Connecticut incidence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" y="2918371"/>
            <a:ext cx="3552378" cy="712440"/>
          </a:xfrm>
          <a:prstGeom prst="roundRect">
            <a:avLst>
              <a:gd name="adj" fmla="val 8022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051721"/>
            <a:ext cx="31572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Previously Safe Regions Now Endemic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" y="3337471"/>
            <a:ext cx="3157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Northern New England, Upper Midwest expanding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77131" y="2438400"/>
            <a:ext cx="2142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Expansion Chart
</a:t>
            </a:r>
            <a:r>
              <a:rPr lang="en-US" sz="9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(1976-2024)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(2016): Northern range expansion documented • Thomson &amp; Stanberry NEJM (2022): Climate-driven vectorborne disease shifts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3895427" y="819150"/>
          <a:ext cx="4905673" cy="3695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550868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Bears the Greatest Burden?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0550" y="1800225"/>
            <a:ext cx="8134350" cy="1047750"/>
          </a:xfrm>
          <a:prstGeom prst="roundRect">
            <a:avLst>
              <a:gd name="adj" fmla="val 3636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614363" y="1800225"/>
            <a:ext cx="0" cy="1047750"/>
          </a:xfrm>
          <a:prstGeom prst="line">
            <a:avLst/>
          </a:prstGeom>
          <a:noFill/>
          <a:ln w="47625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0575" y="1952625"/>
            <a:ext cx="79375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Cascading Crisis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90575" y="2295525"/>
            <a:ext cx="793756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Forestry worker in expanding endemic region → increased tick exposure → economic pressure delays care → Stage 3 progression → can't work → family instability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0550" y="2962275"/>
            <a:ext cx="2635300" cy="609600"/>
          </a:xfrm>
          <a:prstGeom prst="roundRect">
            <a:avLst>
              <a:gd name="adj" fmla="val 625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04850" y="3076575"/>
            <a:ext cx="24548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Land-Based Outdoor Workers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4850" y="3305175"/>
            <a:ext cx="24548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Foresters, farmers, landscapers, trail workers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40150" y="2962275"/>
            <a:ext cx="2635300" cy="609600"/>
          </a:xfrm>
          <a:prstGeom prst="roundRect">
            <a:avLst>
              <a:gd name="adj" fmla="val 625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54450" y="3076575"/>
            <a:ext cx="24548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Communities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4450" y="3305175"/>
            <a:ext cx="24548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healthcare access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089749" y="2962275"/>
            <a:ext cx="2635300" cy="609600"/>
          </a:xfrm>
          <a:prstGeom prst="roundRect">
            <a:avLst>
              <a:gd name="adj" fmla="val 6250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04049" y="3076575"/>
            <a:ext cx="245483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Uninsured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04049" y="3305175"/>
            <a:ext cx="24548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diagnosis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workers face highest exposure risk • SDOH framework (CDC, 2024)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628592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Individual Health: Community Impact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1464915"/>
            <a:ext cx="4171950" cy="872430"/>
          </a:xfrm>
          <a:prstGeom prst="roundRect">
            <a:avLst>
              <a:gd name="adj" fmla="val 436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6250" y="1598265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6250" y="1884015"/>
            <a:ext cx="39833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Adrion et al. (2015): Avg $1,261/patient direct costs, 45 lost workdays for chronic cases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29150" y="1457745"/>
            <a:ext cx="4171950" cy="879599"/>
          </a:xfrm>
          <a:prstGeom prst="roundRect">
            <a:avLst>
              <a:gd name="adj" fmla="val 5348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0" y="1591096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2500" y="1876846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areas: 35% longer time to specialist care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2900" y="2432596"/>
            <a:ext cx="4171950" cy="712440"/>
          </a:xfrm>
          <a:prstGeom prst="roundRect">
            <a:avLst>
              <a:gd name="adj" fmla="val 5348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2565946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6250" y="2851696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Fallon et al. (2019): 47% report depression, 34% anxiety in chronic Lyme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29150" y="2432596"/>
            <a:ext cx="4171950" cy="712440"/>
          </a:xfrm>
          <a:prstGeom prst="roundRect">
            <a:avLst>
              <a:gd name="adj" fmla="val 5348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762500" y="2565946"/>
            <a:ext cx="3983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2500" y="2851696"/>
            <a:ext cx="39833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participation drops 28% in chronic cases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" y="3297436"/>
            <a:ext cx="8458200" cy="571500"/>
          </a:xfrm>
          <a:prstGeom prst="roundRect">
            <a:avLst>
              <a:gd name="adj" fmla="val 666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13766" y="3449836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Lyme disease is a multi-determinant crisis driven by climate change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Adrion et al. Med Care (2015) • Fallon et al. Healthcare (2019) • CDC SDOH (2024)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469258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Is Accelerating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42900" y="1701105"/>
            <a:ext cx="3141464" cy="1181100"/>
          </a:xfrm>
          <a:prstGeom prst="roundRect">
            <a:avLst>
              <a:gd name="adj" fmla="val 4839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872555"/>
            <a:ext cx="28545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00"/>
              </a:lnSpc>
              <a:spcAft>
                <a:spcPts val="6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514350" y="2520255"/>
            <a:ext cx="28545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in northern regions since 2000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" y="2996505"/>
            <a:ext cx="3141464" cy="674340"/>
          </a:xfrm>
          <a:prstGeom prst="roundRect">
            <a:avLst>
              <a:gd name="adj" fmla="val 8475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129855"/>
            <a:ext cx="29322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intervention: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6250" y="3377505"/>
            <a:ext cx="29322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Continued increases especially in new regions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(2016): Reported cases increased 320% in northern New England 2001-2015 • State health surveillance data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2318565579"/>
              </p:ext>
            </p:extLst>
          </p:nvPr>
        </p:nvGraphicFramePr>
        <p:xfrm>
          <a:off x="3779367" y="893717"/>
          <a:ext cx="5126236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914BA39-9A11-6D36-A09C-5048354928A4}"/>
              </a:ext>
            </a:extLst>
          </p:cNvPr>
          <p:cNvSpPr txBox="1"/>
          <p:nvPr/>
        </p:nvSpPr>
        <p:spPr>
          <a:xfrm>
            <a:off x="5434149" y="592183"/>
            <a:ext cx="2219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Lyme Incidence Trend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266700"/>
            <a:ext cx="57612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Climate-Aware Prevention Program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" y="976461"/>
            <a:ext cx="1676400" cy="312390"/>
          </a:xfrm>
          <a:prstGeom prst="roundRect">
            <a:avLst>
              <a:gd name="adj" fmla="val 9147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7660" y="105266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000250" y="976461"/>
            <a:ext cx="1676400" cy="312390"/>
          </a:xfrm>
          <a:prstGeom prst="roundRect">
            <a:avLst>
              <a:gd name="adj" fmla="val 914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61210" y="105266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33800" y="976461"/>
            <a:ext cx="1676400" cy="312390"/>
          </a:xfrm>
          <a:prstGeom prst="roundRect">
            <a:avLst>
              <a:gd name="adj" fmla="val 9147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94760" y="105266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67350" y="976461"/>
            <a:ext cx="1676400" cy="312390"/>
          </a:xfrm>
          <a:prstGeom prst="roundRect">
            <a:avLst>
              <a:gd name="adj" fmla="val 9147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528310" y="105266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200900" y="976461"/>
            <a:ext cx="1676400" cy="312390"/>
          </a:xfrm>
          <a:prstGeom prst="roundRect">
            <a:avLst>
              <a:gd name="adj" fmla="val 914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61860" y="1052661"/>
            <a:ext cx="15544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6700" y="1400165"/>
            <a:ext cx="1676400" cy="1201638"/>
          </a:xfrm>
          <a:prstGeom prst="rect">
            <a:avLst/>
          </a:prstGeom>
          <a:solidFill>
            <a:srgbClr val="E8F5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61950" y="1495415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$28M funding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61950" y="164394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networks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61950" y="179247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GIS systems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61950" y="194100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databases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361950" y="208953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Community Workers &amp; Volunteers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61950" y="223806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clinics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61950" y="2386598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Telehealth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000250" y="1400165"/>
            <a:ext cx="1676400" cy="1053108"/>
          </a:xfrm>
          <a:prstGeom prst="rect">
            <a:avLst/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95500" y="1495415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mobile &amp; tele screening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2095500" y="164394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climate-tick forecasting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2095500" y="179247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Community Champions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095500" y="194100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Subsidize testing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2095500" y="208953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2095500" y="2238068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monitoring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3733800" y="1400165"/>
            <a:ext cx="1676400" cy="1053108"/>
          </a:xfrm>
          <a:prstGeom prst="rect">
            <a:avLst/>
          </a:prstGeom>
          <a:solidFill>
            <a:srgbClr val="F4EC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29050" y="1495415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events/year</a:t>
            </a:r>
            <a:endParaRPr lang="en-US" sz="675" dirty="0"/>
          </a:p>
        </p:txBody>
      </p:sp>
      <p:sp>
        <p:nvSpPr>
          <p:cNvPr id="30" name="Text 28"/>
          <p:cNvSpPr/>
          <p:nvPr/>
        </p:nvSpPr>
        <p:spPr>
          <a:xfrm>
            <a:off x="3829050" y="164394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1K+ screened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3829050" y="1792476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risk maps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29050" y="194100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15K subsidized tests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3829050" y="2089537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reached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3829050" y="2238068"/>
            <a:ext cx="15156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3-state monitoring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5467350" y="1401033"/>
            <a:ext cx="1676400" cy="1487537"/>
          </a:xfrm>
          <a:prstGeom prst="rect">
            <a:avLst/>
          </a:prstGeom>
          <a:solidFill>
            <a:srgbClr val="FDECE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562600" y="1496283"/>
            <a:ext cx="1515618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300"/>
              </a:spcAft>
              <a:buNone/>
            </a:pPr>
            <a:r>
              <a:rPr lang="en-US" sz="713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(6-12mo)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5562600" y="1661036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spcAft>
                <a:spcPts val="150"/>
              </a:spcAft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↑ Stage 1 diagnosis</a:t>
            </a:r>
            <a:endParaRPr lang="en-US" sz="638" dirty="0"/>
          </a:p>
        </p:txBody>
      </p:sp>
      <p:sp>
        <p:nvSpPr>
          <p:cNvPr id="38" name="Text 36"/>
          <p:cNvSpPr/>
          <p:nvPr/>
        </p:nvSpPr>
        <p:spPr>
          <a:xfrm>
            <a:off x="5562600" y="1785307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spcAft>
                <a:spcPts val="450"/>
              </a:spcAft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↓ time-to-treatment</a:t>
            </a:r>
            <a:endParaRPr lang="en-US" sz="638" dirty="0"/>
          </a:p>
        </p:txBody>
      </p:sp>
      <p:sp>
        <p:nvSpPr>
          <p:cNvPr id="39" name="Text 37"/>
          <p:cNvSpPr/>
          <p:nvPr/>
        </p:nvSpPr>
        <p:spPr>
          <a:xfrm>
            <a:off x="5562600" y="1947679"/>
            <a:ext cx="1515618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300"/>
              </a:spcAft>
              <a:buNone/>
            </a:pPr>
            <a:r>
              <a:rPr lang="en-US" sz="713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Intermediate (1-3yr)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5562600" y="2112432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spcAft>
                <a:spcPts val="150"/>
              </a:spcAft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↓ Stage 3 progression</a:t>
            </a:r>
            <a:endParaRPr lang="en-US" sz="638" dirty="0"/>
          </a:p>
        </p:txBody>
      </p:sp>
      <p:sp>
        <p:nvSpPr>
          <p:cNvPr id="41" name="Text 39"/>
          <p:cNvSpPr/>
          <p:nvPr/>
        </p:nvSpPr>
        <p:spPr>
          <a:xfrm>
            <a:off x="5562600" y="2236703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spcAft>
                <a:spcPts val="450"/>
              </a:spcAft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$5M cost savings</a:t>
            </a:r>
            <a:endParaRPr lang="en-US" sz="638" dirty="0"/>
          </a:p>
        </p:txBody>
      </p:sp>
      <p:sp>
        <p:nvSpPr>
          <p:cNvPr id="42" name="Text 40"/>
          <p:cNvSpPr/>
          <p:nvPr/>
        </p:nvSpPr>
        <p:spPr>
          <a:xfrm>
            <a:off x="5562600" y="2399075"/>
            <a:ext cx="1515618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8"/>
              </a:lnSpc>
              <a:spcAft>
                <a:spcPts val="300"/>
              </a:spcAft>
              <a:buNone/>
            </a:pPr>
            <a:r>
              <a:rPr lang="en-US" sz="713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(3-5yr)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5562600" y="2563827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spcAft>
                <a:spcPts val="150"/>
              </a:spcAft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↓ Stage 3 cases</a:t>
            </a:r>
            <a:endParaRPr lang="en-US" sz="638" dirty="0"/>
          </a:p>
        </p:txBody>
      </p:sp>
      <p:sp>
        <p:nvSpPr>
          <p:cNvPr id="44" name="Text 42"/>
          <p:cNvSpPr/>
          <p:nvPr/>
        </p:nvSpPr>
        <p:spPr>
          <a:xfrm>
            <a:off x="5562600" y="2688099"/>
            <a:ext cx="1515618" cy="10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29"/>
              </a:lnSpc>
              <a:buNone/>
            </a:pPr>
            <a:r>
              <a:rPr lang="en-US" sz="638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economic stability</a:t>
            </a:r>
            <a:endParaRPr lang="en-US" sz="638" dirty="0"/>
          </a:p>
        </p:txBody>
      </p:sp>
      <p:sp>
        <p:nvSpPr>
          <p:cNvPr id="45" name="Text 43"/>
          <p:cNvSpPr/>
          <p:nvPr/>
        </p:nvSpPr>
        <p:spPr>
          <a:xfrm>
            <a:off x="7192518" y="1404902"/>
            <a:ext cx="1676400" cy="1062633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272909" y="1543691"/>
            <a:ext cx="15156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equity for vulnerable populations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272909" y="1859802"/>
            <a:ext cx="15156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Aft>
                <a:spcPts val="600"/>
              </a:spcAft>
              <a:buNone/>
            </a:pPr>
            <a:r>
              <a:rPr lang="en-US" sz="6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resilience for communities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7272909" y="2175913"/>
            <a:ext cx="151561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climate-health approach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266700" y="4770239"/>
            <a:ext cx="878281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450"/>
              </a:spcBef>
              <a:buNone/>
            </a:pPr>
            <a:r>
              <a:rPr lang="en-US" sz="6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EPA (2016), Thomson &amp; Stanberry (2022), CDC SDOH (2024), WHO Framework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43622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Do Together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0550" y="1397347"/>
            <a:ext cx="8134350" cy="885825"/>
          </a:xfrm>
          <a:prstGeom prst="roundRect">
            <a:avLst>
              <a:gd name="adj" fmla="val 6452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1568797"/>
            <a:ext cx="79472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Others to Act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62000" y="1911697"/>
            <a:ext cx="79472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communities with knowledge, tools, and resources to protect themselves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0550" y="2416522"/>
            <a:ext cx="4010025" cy="712440"/>
          </a:xfrm>
          <a:prstGeom prst="roundRect">
            <a:avLst>
              <a:gd name="adj" fmla="val 534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23900" y="2549872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Foster Collaboration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23900" y="2835622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researchers, providers, industry, communities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14875" y="2416522"/>
            <a:ext cx="4010025" cy="712440"/>
          </a:xfrm>
          <a:prstGeom prst="roundRect">
            <a:avLst>
              <a:gd name="adj" fmla="val 534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48225" y="2549872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Strengthen Self-Determination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8225" y="2835622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climate-disease data and decision-making capacity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0550" y="3262313"/>
            <a:ext cx="4010025" cy="712440"/>
          </a:xfrm>
          <a:prstGeom prst="roundRect">
            <a:avLst>
              <a:gd name="adj" fmla="val 534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23900" y="3395663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Competence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3900" y="3681413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peer educators and recognition specialists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14875" y="3262313"/>
            <a:ext cx="4010025" cy="712440"/>
          </a:xfrm>
          <a:prstGeom prst="roundRect">
            <a:avLst>
              <a:gd name="adj" fmla="val 5348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48225" y="3395663"/>
            <a:ext cx="3818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Accountability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8225" y="3681413"/>
            <a:ext cx="381819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transparent monitoring systems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Kouzes &amp; Posner Leadership: Enable Others to Act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49646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750"/>
              </a:spcAft>
              <a:buNone/>
            </a:pPr>
            <a:r>
              <a:rPr lang="en-US" sz="22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Role as Climate-Health Leaders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42900" y="864989"/>
            <a:ext cx="8458200" cy="815280"/>
          </a:xfrm>
          <a:prstGeom prst="roundRect">
            <a:avLst>
              <a:gd name="adj" fmla="val 701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5300" y="1017389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Researchers &amp; Scientists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5300" y="1341239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climate-disease monitoring • Share models • Collaborate across disciplines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42900" y="1794570"/>
            <a:ext cx="8458200" cy="815280"/>
          </a:xfrm>
          <a:prstGeom prst="roundRect">
            <a:avLst>
              <a:gd name="adj" fmla="val 701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300" y="194697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Providers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95300" y="2270820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clinical suspicion in new areas • Champion mobile screening • Address SDOH barriers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" y="2724150"/>
            <a:ext cx="8458200" cy="815280"/>
          </a:xfrm>
          <a:prstGeom prst="roundRect">
            <a:avLst>
              <a:gd name="adj" fmla="val 7010"/>
            </a:avLst>
          </a:prstGeom>
          <a:solidFill>
            <a:srgbClr val="9B59B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5300" y="287655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Advocates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5300" y="3200400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for climate adaptation plans • Advocate for funding • Remove access barriers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900" y="3653730"/>
            <a:ext cx="8458200" cy="815280"/>
          </a:xfrm>
          <a:prstGeom prst="roundRect">
            <a:avLst>
              <a:gd name="adj" fmla="val 7010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5300" y="3806130"/>
            <a:ext cx="831646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in This Room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5300" y="4129980"/>
            <a:ext cx="831646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with this knowledge • Make the climate-health intersection impossible to ignore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2900" y="4762500"/>
            <a:ext cx="862736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demands interdisciplinary action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7876" y="546795"/>
            <a:ext cx="654824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spcAft>
                <a:spcPts val="1800"/>
              </a:spcAft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is already making us sick.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685800" y="2146995"/>
            <a:ext cx="77724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300"/>
              </a:spcBef>
              <a:spcAft>
                <a:spcPts val="24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we have the tools, knowledge, and framework to respond proactively—not reactively.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49216" y="3091755"/>
            <a:ext cx="2645420" cy="647700"/>
          </a:xfrm>
          <a:prstGeom prst="roundRect">
            <a:avLst>
              <a:gd name="adj" fmla="val 1176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533657" y="3282255"/>
            <a:ext cx="2076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time to act is now.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4196655"/>
            <a:ext cx="7772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spcAft>
                <a:spcPts val="45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Payne • UNE Climate Change Leadership Program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85800" y="4444305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after the session to discuss collaboration opportunities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8134</TotalTime>
  <Words>1067</Words>
  <Application>Microsoft Macintosh PowerPoint</Application>
  <PresentationFormat>On-screen Show (16:9)</PresentationFormat>
  <Paragraphs>164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is Making Us Sick: The Rising Tide of Lyme Disease</dc:title>
  <dc:subject>PptxGenJS Presentation</dc:subject>
  <dc:creator>Chris - UNE Climate Change Leadership</dc:creator>
  <cp:lastModifiedBy>Payne, Chris (CAI - Maine)</cp:lastModifiedBy>
  <cp:revision>6</cp:revision>
  <dcterms:created xsi:type="dcterms:W3CDTF">2025-12-02T01:09:53Z</dcterms:created>
  <dcterms:modified xsi:type="dcterms:W3CDTF">2025-12-07T19:28:38Z</dcterms:modified>
</cp:coreProperties>
</file>